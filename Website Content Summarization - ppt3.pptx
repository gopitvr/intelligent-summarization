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1" r:id="rId4"/>
    <p:sldId id="259" r:id="rId5"/>
    <p:sldId id="275" r:id="rId6"/>
    <p:sldId id="276" r:id="rId7"/>
    <p:sldId id="260" r:id="rId8"/>
    <p:sldId id="280" r:id="rId9"/>
    <p:sldId id="266" r:id="rId10"/>
    <p:sldId id="274" r:id="rId11"/>
    <p:sldId id="268" r:id="rId12"/>
    <p:sldId id="273" r:id="rId13"/>
    <p:sldId id="277" r:id="rId14"/>
    <p:sldId id="269" r:id="rId15"/>
    <p:sldId id="271" r:id="rId16"/>
    <p:sldId id="262" r:id="rId17"/>
    <p:sldId id="272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32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69B2-3672-4D3B-A84B-9BACD21F3D6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2431C-71F3-4267-A86E-09447FA68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0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69B2-3672-4D3B-A84B-9BACD21F3D6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2431C-71F3-4267-A86E-09447FA68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39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69B2-3672-4D3B-A84B-9BACD21F3D6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2431C-71F3-4267-A86E-09447FA68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947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69B2-3672-4D3B-A84B-9BACD21F3D6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2431C-71F3-4267-A86E-09447FA68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992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69B2-3672-4D3B-A84B-9BACD21F3D6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2431C-71F3-4267-A86E-09447FA68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764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69B2-3672-4D3B-A84B-9BACD21F3D6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2431C-71F3-4267-A86E-09447FA68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82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69B2-3672-4D3B-A84B-9BACD21F3D6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2431C-71F3-4267-A86E-09447FA68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961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69B2-3672-4D3B-A84B-9BACD21F3D6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2431C-71F3-4267-A86E-09447FA68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14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69B2-3672-4D3B-A84B-9BACD21F3D6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2431C-71F3-4267-A86E-09447FA68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542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69B2-3672-4D3B-A84B-9BACD21F3D6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2431C-71F3-4267-A86E-09447FA68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502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69B2-3672-4D3B-A84B-9BACD21F3D6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2431C-71F3-4267-A86E-09447FA68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29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5269B2-3672-4D3B-A84B-9BACD21F3D6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2431C-71F3-4267-A86E-09447FA68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988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541811" y="2092827"/>
            <a:ext cx="11108377" cy="1227910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Intelligent Summarization of Website Content Using Transformer-Based Models.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6553200" y="4786312"/>
            <a:ext cx="6400800" cy="1752600"/>
          </a:xfrm>
        </p:spPr>
        <p:txBody>
          <a:bodyPr>
            <a:normAutofit/>
          </a:bodyPr>
          <a:lstStyle/>
          <a:p>
            <a:r>
              <a:rPr lang="en-IN" b="1" u="sng" dirty="0"/>
              <a:t>Team Members</a:t>
            </a:r>
          </a:p>
          <a:p>
            <a:r>
              <a:rPr lang="en-IN" dirty="0"/>
              <a:t>M.GOPINATH-8208E22ASR020</a:t>
            </a:r>
          </a:p>
          <a:p>
            <a:r>
              <a:rPr lang="en-IN" dirty="0"/>
              <a:t>B.THARANIBALAN-8208E22ASR060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88B0B7-199B-75F5-7D33-2899BEF1C129}"/>
              </a:ext>
            </a:extLst>
          </p:cNvPr>
          <p:cNvSpPr txBox="1"/>
          <p:nvPr/>
        </p:nvSpPr>
        <p:spPr>
          <a:xfrm>
            <a:off x="-741217" y="4786312"/>
            <a:ext cx="6477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u="sng" dirty="0"/>
              <a:t>Project Supervisor Details</a:t>
            </a:r>
          </a:p>
          <a:p>
            <a:pPr algn="ctr"/>
            <a:r>
              <a:rPr lang="en-IN" sz="2400" dirty="0" err="1"/>
              <a:t>Ms.R</a:t>
            </a:r>
            <a:r>
              <a:rPr lang="en-IN" sz="2400" dirty="0"/>
              <a:t>.</a:t>
            </a:r>
            <a:r>
              <a:rPr lang="en-US" sz="2400" dirty="0" err="1"/>
              <a:t>Divyabharathi,M.E</a:t>
            </a:r>
            <a:r>
              <a:rPr lang="en-US" sz="2400" dirty="0"/>
              <a:t>. </a:t>
            </a:r>
          </a:p>
          <a:p>
            <a:pPr algn="ctr"/>
            <a:r>
              <a:rPr lang="en-US" sz="2400" dirty="0"/>
              <a:t>Assistant Professor </a:t>
            </a:r>
          </a:p>
          <a:p>
            <a:pPr algn="ctr"/>
            <a:r>
              <a:rPr lang="en-US" sz="2400" dirty="0"/>
              <a:t>Department of AI and Data Science</a:t>
            </a:r>
            <a:endParaRPr lang="en-IN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C5030F-A3F7-F53A-B08C-D7F5F83E48DB}"/>
              </a:ext>
            </a:extLst>
          </p:cNvPr>
          <p:cNvSpPr txBox="1"/>
          <p:nvPr/>
        </p:nvSpPr>
        <p:spPr>
          <a:xfrm>
            <a:off x="2192483" y="763939"/>
            <a:ext cx="6892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Year Project – Review </a:t>
            </a:r>
            <a:r>
              <a:rPr lang="en-US" b="1" dirty="0"/>
              <a:t>2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71740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799" y="0"/>
            <a:ext cx="10417629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2859741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875211" y="731520"/>
            <a:ext cx="10123715" cy="391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FD57213-8BC7-FA33-F4C4-80B0EB04FACA}"/>
              </a:ext>
            </a:extLst>
          </p:cNvPr>
          <p:cNvSpPr txBox="1"/>
          <p:nvPr/>
        </p:nvSpPr>
        <p:spPr>
          <a:xfrm>
            <a:off x="685799" y="797024"/>
            <a:ext cx="11239501" cy="5009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Clr>
                <a:schemeClr val="dk1"/>
              </a:buClr>
              <a:buSzPct val="65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Websites today are not only text-based – they also include images, videos, and           audio (like podcasts or interviews).</a:t>
            </a:r>
          </a:p>
          <a:p>
            <a:pPr lvl="0" indent="-316254">
              <a:lnSpc>
                <a:spcPct val="150000"/>
              </a:lnSpc>
              <a:buClr>
                <a:schemeClr val="dk1"/>
              </a:buClr>
              <a:buSzPts val="138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Users spend a lot of time reading long articles, watching videos, or listening to audio to understand the main idea.</a:t>
            </a:r>
          </a:p>
          <a:p>
            <a:pPr lvl="0" indent="-316254">
              <a:lnSpc>
                <a:spcPct val="150000"/>
              </a:lnSpc>
              <a:buClr>
                <a:schemeClr val="dk1"/>
              </a:buClr>
              <a:buSzPts val="138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Existing summarization systems mainly focus on text-only content.</a:t>
            </a:r>
          </a:p>
          <a:p>
            <a:pPr lvl="0" indent="-316254">
              <a:lnSpc>
                <a:spcPct val="150000"/>
              </a:lnSpc>
              <a:buClr>
                <a:schemeClr val="dk1"/>
              </a:buClr>
              <a:buSzPts val="138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But images, videos, and audio also carry important meaning (example: an image of a farmer spraying crops explains more than 5 lines of text).</a:t>
            </a:r>
          </a:p>
          <a:p>
            <a:pPr lvl="0" indent="-316254">
              <a:lnSpc>
                <a:spcPct val="150000"/>
              </a:lnSpc>
              <a:buClr>
                <a:schemeClr val="dk1"/>
              </a:buClr>
              <a:buSzPts val="138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Therefore, there is a need for a universal summarization system that can combine text, images, video, and audio into one short and meaningful summary.</a:t>
            </a:r>
          </a:p>
        </p:txBody>
      </p:sp>
    </p:spTree>
    <p:extLst>
      <p:ext uri="{BB962C8B-B14F-4D97-AF65-F5344CB8AC3E}">
        <p14:creationId xmlns:p14="http://schemas.microsoft.com/office/powerpoint/2010/main" val="2290525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799" y="0"/>
            <a:ext cx="10417629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Objective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2859741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901912" y="694389"/>
            <a:ext cx="10123715" cy="391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901912" y="792583"/>
            <a:ext cx="10555942" cy="5563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 develop a system for summarizing multimodal web content.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 extract text, images, and video data automatically.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 preprocess and structure extracted web data.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 generate summaries using the Text-to-Text Transfer Transformer.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 convert images into text using the Bootstrapping Language-Image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Pretraining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 transcribe video audio using Whisper.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 integrate outputs from multiple modalities.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 improve summary accuracy and coherence.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 reduce user time and effort in understanding content. </a:t>
            </a:r>
          </a:p>
        </p:txBody>
      </p:sp>
    </p:spTree>
    <p:extLst>
      <p:ext uri="{BB962C8B-B14F-4D97-AF65-F5344CB8AC3E}">
        <p14:creationId xmlns:p14="http://schemas.microsoft.com/office/powerpoint/2010/main" val="2402021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70160" y="69273"/>
            <a:ext cx="10859394" cy="678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Base Paper Details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798906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927463" y="748146"/>
            <a:ext cx="1020209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33549" y="982117"/>
            <a:ext cx="1078992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Title: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BLIP: Bootstrapping Language-Image Pre-training for Unified Vision-Language Understanding and Generation</a:t>
            </a:r>
          </a:p>
          <a:p>
            <a:pPr algn="just"/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Authors: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Junnan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Li,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Dongxu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Li,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Caiming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Xiong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, et al.</a:t>
            </a:r>
          </a:p>
          <a:p>
            <a:pPr algn="just"/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Year: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2022</a:t>
            </a:r>
          </a:p>
          <a:p>
            <a:pPr algn="just"/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Publication: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Proceedings of ICML (International Conference on Machine Learning)</a:t>
            </a:r>
          </a:p>
          <a:p>
            <a:pPr algn="just"/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Research Scope: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Develops a vision-language model to understand images and generate text using large-scale multimodal data.</a:t>
            </a:r>
          </a:p>
          <a:p>
            <a:pPr algn="just"/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Findings: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The Bootstrapping Language-Image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Pretraining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performs well in image captioning by aligning visual and textual features.</a:t>
            </a:r>
          </a:p>
          <a:p>
            <a:pPr algn="just"/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Future Directions: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Extend models to full multimodal systems combining image, text, and video for advanced summarization tasks.</a:t>
            </a:r>
          </a:p>
        </p:txBody>
      </p:sp>
    </p:spTree>
    <p:extLst>
      <p:ext uri="{BB962C8B-B14F-4D97-AF65-F5344CB8AC3E}">
        <p14:creationId xmlns:p14="http://schemas.microsoft.com/office/powerpoint/2010/main" val="177067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799" y="0"/>
            <a:ext cx="10417629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Existing System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2859741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901912" y="694389"/>
            <a:ext cx="10123715" cy="391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901912" y="818366"/>
            <a:ext cx="10201516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Text-Based Summarization Systems: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Focus on extracting and summarizing textual content using extractive or abstractive techniques from Natural Language Processing.</a:t>
            </a:r>
          </a:p>
          <a:p>
            <a:pPr algn="just"/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Rule-Based and Statistical Approaches: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Use predefined rules and statistical methods like keyword frequency and TF-IDF to identify important sentences.</a:t>
            </a:r>
          </a:p>
          <a:p>
            <a:pPr algn="just"/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Machine Learning-Based Summarization: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Apply algorithms such as SVM and Naïve Bayes to learn patterns and rank sentences based on features.</a:t>
            </a:r>
          </a:p>
          <a:p>
            <a:pPr algn="just"/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Deep Learning-Based Models: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Use neural networks like RNN, LSTM, and transformers to generate context-aware and meaningful summaries.</a:t>
            </a:r>
          </a:p>
          <a:p>
            <a:pPr algn="just"/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Single-Modality Processing Systems: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Process only one type of data (mainly text) without integrating images or video content.</a:t>
            </a:r>
          </a:p>
          <a:p>
            <a:pPr algn="just"/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54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799" y="0"/>
            <a:ext cx="10417629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Proposed Work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2859741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901912" y="694389"/>
            <a:ext cx="10123715" cy="391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77239" y="950464"/>
            <a:ext cx="10430692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The proposed system presents an intelligent approach for summarizing multimodal web content by integrating text, image, and video data into a unified framework. It uses advanced AI models to extract, process, and combine information from different modalities, producing a concise and meaningful summary.</a:t>
            </a:r>
          </a:p>
          <a:p>
            <a:pPr algn="just"/>
            <a:endParaRPr lang="en-US" sz="2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Multimodal Data Processing using AI Algorithms: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Uses Text-to-Text Transfer Transformer for text, Bootstrapping Language-Image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Pretraining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for images, and Whisper for video transcription.</a:t>
            </a:r>
          </a:p>
          <a:p>
            <a:pPr algn="just"/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Multimodal Fusion and Summary Generation: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Combines outputs from all modules and refines them using Text-to-Text Transfer Transformer to generate a final unified summary.</a:t>
            </a:r>
          </a:p>
          <a:p>
            <a:pPr algn="just"/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047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927463" y="748146"/>
            <a:ext cx="1020209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927464" y="0"/>
            <a:ext cx="102020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Literature Review</a:t>
            </a:r>
            <a:endParaRPr lang="en-US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046519"/>
              </p:ext>
            </p:extLst>
          </p:nvPr>
        </p:nvGraphicFramePr>
        <p:xfrm>
          <a:off x="411480" y="937351"/>
          <a:ext cx="11234058" cy="5446916"/>
        </p:xfrm>
        <a:graphic>
          <a:graphicData uri="http://schemas.openxmlformats.org/drawingml/2006/table">
            <a:tbl>
              <a:tblPr firstRow="1" firstCol="1" bandRow="1"/>
              <a:tblGrid>
                <a:gridCol w="478972">
                  <a:extLst>
                    <a:ext uri="{9D8B030D-6E8A-4147-A177-3AD203B41FA5}">
                      <a16:colId xmlns:a16="http://schemas.microsoft.com/office/drawing/2014/main" val="3165133246"/>
                    </a:ext>
                  </a:extLst>
                </a:gridCol>
                <a:gridCol w="2741022">
                  <a:extLst>
                    <a:ext uri="{9D8B030D-6E8A-4147-A177-3AD203B41FA5}">
                      <a16:colId xmlns:a16="http://schemas.microsoft.com/office/drawing/2014/main" val="154907229"/>
                    </a:ext>
                  </a:extLst>
                </a:gridCol>
                <a:gridCol w="2037806">
                  <a:extLst>
                    <a:ext uri="{9D8B030D-6E8A-4147-A177-3AD203B41FA5}">
                      <a16:colId xmlns:a16="http://schemas.microsoft.com/office/drawing/2014/main" val="3272055990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3406192172"/>
                    </a:ext>
                  </a:extLst>
                </a:gridCol>
                <a:gridCol w="1345474">
                  <a:extLst>
                    <a:ext uri="{9D8B030D-6E8A-4147-A177-3AD203B41FA5}">
                      <a16:colId xmlns:a16="http://schemas.microsoft.com/office/drawing/2014/main" val="3273492721"/>
                    </a:ext>
                  </a:extLst>
                </a:gridCol>
                <a:gridCol w="1593669">
                  <a:extLst>
                    <a:ext uri="{9D8B030D-6E8A-4147-A177-3AD203B41FA5}">
                      <a16:colId xmlns:a16="http://schemas.microsoft.com/office/drawing/2014/main" val="1620966492"/>
                    </a:ext>
                  </a:extLst>
                </a:gridCol>
                <a:gridCol w="1495698">
                  <a:extLst>
                    <a:ext uri="{9D8B030D-6E8A-4147-A177-3AD203B41FA5}">
                      <a16:colId xmlns:a16="http://schemas.microsoft.com/office/drawing/2014/main" val="2138518926"/>
                    </a:ext>
                  </a:extLst>
                </a:gridCol>
              </a:tblGrid>
              <a:tr h="6005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Paper Info 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Algorithms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Merits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Demerits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517544"/>
                  </a:ext>
                </a:extLst>
              </a:tr>
              <a:tr h="948473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“Exploring the Limits of Transfer Learning with a Unified Text-to-Text Transformer”, Colin </a:t>
                      </a:r>
                      <a:r>
                        <a:rPr lang="en-US" dirty="0" err="1"/>
                        <a:t>Raffel</a:t>
                      </a:r>
                      <a:r>
                        <a:rPr lang="en-US" dirty="0"/>
                        <a:t> et al., 2020</a:t>
                      </a:r>
                      <a:endParaRPr lang="en-US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/>
                        <a:t>Unified NLP framework for text summarization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/>
                        <a:t>Text-to-Text Transfer Transformer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/>
                        <a:t>CNN/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 err="1"/>
                        <a:t>DailyMail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/>
                        <a:t>High-quality abstractive summaries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/>
                        <a:t>Limited to text-only data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347853"/>
                  </a:ext>
                </a:extLst>
              </a:tr>
              <a:tr h="85898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BLIP: Bootstrapping Language-Image Pre-training”, </a:t>
                      </a:r>
                      <a:r>
                        <a:rPr lang="en-US" dirty="0" err="1"/>
                        <a:t>Junnan</a:t>
                      </a:r>
                      <a:r>
                        <a:rPr lang="en-US" dirty="0"/>
                        <a:t> Li et al., 2022</a:t>
                      </a:r>
                      <a:endParaRPr lang="en-US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/>
                        <a:t>Vision-language understanding and image captioning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/>
                        <a:t>Bootstrapping Language-Image </a:t>
                      </a:r>
                      <a:r>
                        <a:rPr lang="en-US" dirty="0" err="1"/>
                        <a:t>Pretraining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/>
                        <a:t>COCO Dataset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/>
                        <a:t>Effective image-to-text conversion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/>
                        <a:t>Does not handle video/audio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3489812"/>
                  </a:ext>
                </a:extLst>
              </a:tr>
              <a:tr h="82269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/>
                        <a:t>“Robust Speech Recognition via Large-Scale Weak Supervision”, Alec Radford et al., 2022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/>
                        <a:t>Speech-to-text transcription for multimedia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Whisper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/>
                        <a:t>Multilingual Audio Dataset</a:t>
                      </a:r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/>
                        <a:t>High accuracy in noisy audio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/>
                        <a:t>Computationally intensive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221787"/>
                  </a:ext>
                </a:extLst>
              </a:tr>
              <a:tr h="936568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/>
                        <a:t>“BART: </a:t>
                      </a:r>
                      <a:r>
                        <a:rPr lang="en-US" dirty="0" err="1"/>
                        <a:t>Denoising</a:t>
                      </a:r>
                      <a:r>
                        <a:rPr lang="en-US" dirty="0"/>
                        <a:t> Sequence-to-Sequence Pre-training for NLP”, Mike Lewis et al., 2020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/>
                        <a:t>Text generation and summarization using </a:t>
                      </a:r>
                      <a:r>
                        <a:rPr lang="en-US" dirty="0" err="1"/>
                        <a:t>denoising</a:t>
                      </a:r>
                      <a:r>
                        <a:rPr lang="en-US" dirty="0"/>
                        <a:t> techniques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/>
                        <a:t>Bidirectional and Auto-Regressive Transformers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/>
                        <a:t>CNN/</a:t>
                      </a:r>
                      <a:r>
                        <a:rPr lang="en-US" dirty="0" err="1"/>
                        <a:t>DailyMail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/>
                        <a:t>Strong performance in text summarization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/>
                        <a:t>Limited multimodal capability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5031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4734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39F07-A3E0-2EA5-E82A-EDA46D904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0429575-7B5B-6149-FAEA-58D5CD81C7B1}"/>
              </a:ext>
            </a:extLst>
          </p:cNvPr>
          <p:cNvCxnSpPr/>
          <p:nvPr/>
        </p:nvCxnSpPr>
        <p:spPr>
          <a:xfrm>
            <a:off x="927463" y="748146"/>
            <a:ext cx="1020209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9E6D6DA-D1B5-7A6F-3FC3-DB44BF1EC850}"/>
              </a:ext>
            </a:extLst>
          </p:cNvPr>
          <p:cNvSpPr/>
          <p:nvPr/>
        </p:nvSpPr>
        <p:spPr>
          <a:xfrm>
            <a:off x="927464" y="0"/>
            <a:ext cx="102020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DATASET COLLECTION</a:t>
            </a:r>
            <a:endParaRPr lang="en-US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91E959-B87B-9BA1-7D87-7917F94A4B14}"/>
              </a:ext>
            </a:extLst>
          </p:cNvPr>
          <p:cNvSpPr txBox="1"/>
          <p:nvPr/>
        </p:nvSpPr>
        <p:spPr>
          <a:xfrm>
            <a:off x="927463" y="975939"/>
            <a:ext cx="9476509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🔹 Source</a:t>
            </a:r>
          </a:p>
          <a:p>
            <a:pPr>
              <a:buNone/>
            </a:pPr>
            <a:endParaRPr lang="en-IN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Kaggle – CNN/</a:t>
            </a:r>
            <a:r>
              <a:rPr lang="en-IN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DailyMail</a:t>
            </a: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 Dataset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Real-time web data via scraping (text, images, videos)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🔹 Data Description</a:t>
            </a:r>
          </a:p>
          <a:p>
            <a:pPr>
              <a:buNone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300,000+ articles with summaries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Features: Article, Highlights, Title, Author, URL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Multimodal: Text + Image links + Video data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🔹 Quality &amp; Relevance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Human-written summaries (high accuracy)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Covers multiple domains (news, tech, health)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Well-aligned with web content summarization</a:t>
            </a:r>
          </a:p>
        </p:txBody>
      </p:sp>
    </p:spTree>
    <p:extLst>
      <p:ext uri="{BB962C8B-B14F-4D97-AF65-F5344CB8AC3E}">
        <p14:creationId xmlns:p14="http://schemas.microsoft.com/office/powerpoint/2010/main" val="3432556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799" y="0"/>
            <a:ext cx="10417629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Data </a:t>
            </a:r>
            <a:r>
              <a:rPr lang="en-IN" b="1" dirty="0" err="1">
                <a:latin typeface="Cambria" panose="02040503050406030204" pitchFamily="18" charset="0"/>
                <a:ea typeface="Cambria" panose="02040503050406030204" pitchFamily="18" charset="0"/>
              </a:rPr>
              <a:t>Preprocessing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2859741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875211" y="731520"/>
            <a:ext cx="10450286" cy="130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75211" y="934365"/>
            <a:ext cx="10541726" cy="523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Steps Involved,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Removed null and duplicate values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Cleaned text (special characters, HTML tags, noise removal)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Performed text normalization (lowercasing, tokenization)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Extracted and structured image and video metadata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Converted data into model-compatible format </a:t>
            </a:r>
          </a:p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Tools/Libraries Used: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Python (Data handling)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NumPy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Pandas (Data processing)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BeautifulSoup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Requests (Web scraping)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Transformers (Preprocessing for models)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OpenCV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/ PIL (Image handling)</a:t>
            </a:r>
          </a:p>
          <a:p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013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799" y="161108"/>
            <a:ext cx="10417629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Future Work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2859741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875211" y="770709"/>
            <a:ext cx="10123715" cy="391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799" y="1022340"/>
            <a:ext cx="1031312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Real-Time Processing</a:t>
            </a:r>
          </a:p>
          <a:p>
            <a:pPr algn="just"/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The system can be enhanced to support real-time content updates and instant summarization. This improves responsiveness for dynamic web pages and live data sources.</a:t>
            </a:r>
          </a:p>
          <a:p>
            <a:pPr algn="just"/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Multilingual Support</a:t>
            </a:r>
          </a:p>
          <a:p>
            <a:pPr algn="just"/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The system can be extended to process and summarize content in multiple languages. This increases usability for global users and diverse web content.</a:t>
            </a:r>
          </a:p>
          <a:p>
            <a:pPr algn="just"/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Model Optimization</a:t>
            </a:r>
          </a:p>
          <a:p>
            <a:pPr algn="just"/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Advanced optimization techniques can reduce processing time and resource usage. This improves efficiency and enables deployment in low-resource environments.</a:t>
            </a:r>
          </a:p>
        </p:txBody>
      </p:sp>
    </p:spTree>
    <p:extLst>
      <p:ext uri="{BB962C8B-B14F-4D97-AF65-F5344CB8AC3E}">
        <p14:creationId xmlns:p14="http://schemas.microsoft.com/office/powerpoint/2010/main" val="2690679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799" y="0"/>
            <a:ext cx="10417629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Model Development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2859741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875211" y="731520"/>
            <a:ext cx="10123715" cy="391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75211" y="892628"/>
            <a:ext cx="996696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1. Text-to-Text Transfer Transformer (Text Summarization)</a:t>
            </a:r>
          </a:p>
          <a:p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Workflow: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Train model using article–summary dataset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Input text is tokenized and encoded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Model learns contextual relationships during training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During prediction, input text is passed to model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Model generates concise summary as output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2. Bootstrapping Language-Image </a:t>
            </a:r>
            <a:r>
              <a:rPr lang="en-US" sz="2200" b="1" dirty="0" err="1">
                <a:latin typeface="Cambria" panose="02040503050406030204" pitchFamily="18" charset="0"/>
                <a:ea typeface="Cambria" panose="02040503050406030204" pitchFamily="18" charset="0"/>
              </a:rPr>
              <a:t>Pretraining</a:t>
            </a: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 (Image Captioning)</a:t>
            </a:r>
          </a:p>
          <a:p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Workflow: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Train model on image-caption datasets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Input image is converted into feature representation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Model learns mapping between image and text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During prediction, image is given as input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Model generates descriptive caption</a:t>
            </a:r>
          </a:p>
          <a:p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507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799" y="0"/>
            <a:ext cx="10417629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Model Development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2859741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875211" y="731520"/>
            <a:ext cx="10123715" cy="391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32755" y="892628"/>
            <a:ext cx="10123715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3. Whisper (Speech-to-Text)</a:t>
            </a:r>
          </a:p>
          <a:p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Workflow: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Train model on large-scale audio-text dataset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Input audio is converted into spectrogram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Model learns audio-to-text mapping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During prediction, audio is processed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Model outputs transcribed text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4. Multimodal Fusion Model</a:t>
            </a:r>
          </a:p>
          <a:p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Workflow: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Collect outputs from text, image, and video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Align and combine all outputs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Remove redundant information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Refine combined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Generate final unified summary</a:t>
            </a:r>
          </a:p>
          <a:p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535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799" y="0"/>
            <a:ext cx="10417629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Drawback of Existing System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2859741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901912" y="694389"/>
            <a:ext cx="10123715" cy="391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058090" y="926425"/>
            <a:ext cx="7801879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Focus mainly on textual data and ignore multimedia content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Unable to integrate text, image, and video information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Generate incomplete or less informative summaries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Lack contextual understanding of complex content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Depend heavily on manual feature engineering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Struggle with large and unstructured web data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Limited adaptability to different website formats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Inefficient in handling real-time data processing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Lower accuracy in capturing semantic meaning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Require high preprocessing efforts for clean data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Do not provide unified or comprehensive summaries </a:t>
            </a:r>
          </a:p>
        </p:txBody>
      </p:sp>
    </p:spTree>
    <p:extLst>
      <p:ext uri="{BB962C8B-B14F-4D97-AF65-F5344CB8AC3E}">
        <p14:creationId xmlns:p14="http://schemas.microsoft.com/office/powerpoint/2010/main" val="3476837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799" y="0"/>
            <a:ext cx="10417629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Model Implementation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2859741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875211" y="731520"/>
            <a:ext cx="10123715" cy="391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32755" y="892628"/>
            <a:ext cx="10123715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Step 1: </a:t>
            </a:r>
            <a:r>
              <a:rPr lang="en-US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Collect website URL as input from user interface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Step 2: </a:t>
            </a:r>
            <a:r>
              <a:rPr lang="en-US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Perform web scraping to extract text, images, and video links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Step 3: </a:t>
            </a:r>
            <a:r>
              <a:rPr lang="en-US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Preprocess extracted data by removing noise and structuring content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Step 4: </a:t>
            </a:r>
            <a:r>
              <a:rPr lang="en-US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Apply Text-to-Text Transfer Transformer for text summarization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Step 5: </a:t>
            </a:r>
            <a:r>
              <a:rPr lang="en-US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Use Bootstrapping Language-Image </a:t>
            </a:r>
            <a:r>
              <a:rPr lang="en-US" alt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Pretraining</a:t>
            </a:r>
            <a:r>
              <a:rPr lang="en-US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for image caption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generation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Step 6: </a:t>
            </a:r>
            <a:r>
              <a:rPr lang="en-US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Extract audio from videos and transcribe using Whisper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Step 7: </a:t>
            </a:r>
            <a:r>
              <a:rPr lang="en-US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Integrate outputs from all modalities using multimodal fusion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Step 8: </a:t>
            </a:r>
            <a:r>
              <a:rPr lang="en-US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Refine and generate final coherent summary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Step 9: </a:t>
            </a:r>
            <a:r>
              <a:rPr lang="en-US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Store results in database and display output to user </a:t>
            </a:r>
          </a:p>
        </p:txBody>
      </p:sp>
    </p:spTree>
    <p:extLst>
      <p:ext uri="{BB962C8B-B14F-4D97-AF65-F5344CB8AC3E}">
        <p14:creationId xmlns:p14="http://schemas.microsoft.com/office/powerpoint/2010/main" val="2377406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799" y="0"/>
            <a:ext cx="10417629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Deployment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2859741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875211" y="731520"/>
            <a:ext cx="10123715" cy="391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/>
          <p:nvPr/>
        </p:nvPicPr>
        <p:blipFill rotWithShape="1">
          <a:blip r:embed="rId2"/>
          <a:srcRect t="12345" b="5983"/>
          <a:stretch/>
        </p:blipFill>
        <p:spPr bwMode="auto">
          <a:xfrm>
            <a:off x="875211" y="1012826"/>
            <a:ext cx="5943600" cy="27305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/>
          <p:cNvPicPr/>
          <p:nvPr/>
        </p:nvPicPr>
        <p:blipFill rotWithShape="1">
          <a:blip r:embed="rId3"/>
          <a:srcRect l="1" t="12726" r="1282" b="6363"/>
          <a:stretch/>
        </p:blipFill>
        <p:spPr bwMode="auto">
          <a:xfrm>
            <a:off x="5131526" y="3833812"/>
            <a:ext cx="5867400" cy="27051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38606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799" y="0"/>
            <a:ext cx="10417629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System Architecture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2859741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875211" y="731520"/>
            <a:ext cx="10123715" cy="391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C:\Users\GOD\Downloads\Copilot_20260418_152332.pn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534"/>
          <a:stretch/>
        </p:blipFill>
        <p:spPr bwMode="auto">
          <a:xfrm>
            <a:off x="1130300" y="892628"/>
            <a:ext cx="9868626" cy="53026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92917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799" y="0"/>
            <a:ext cx="10417629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2859741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875211" y="731520"/>
            <a:ext cx="10123715" cy="391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75211" y="1054044"/>
            <a:ext cx="10123715" cy="3347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 conclusion, this project develops an intelligent system to summarize multimodal web content by integrating text, image, and video data. Using the Text-to-Text Transfer Transformer, Bootstrapping Language-Image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Pretraining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and Whisper, the system generates accurate and concise summaries. It effectively reduces information overload and provides a scalable solution for efficient content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1445481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799" y="0"/>
            <a:ext cx="10417629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2859741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875211" y="731520"/>
            <a:ext cx="10123715" cy="391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685799" y="1024373"/>
            <a:ext cx="10563444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Colin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Raffel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et al., “Exploring the Limits of Transfer Learning with a Unified Text-to-Text Transformer,” Journal of Machine Learning Research, 2020.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Junnan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Li et al., “BLIP: Bootstrapping Language-Image Pre-training for Unified Vision-Language Understanding,” ICML, 2022.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Alec Radford et al., “Robust Speech Recognition via Large-Scale Weak Supervision,” 2022.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Mike Lewis et al., “BART: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Denoising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Sequence-to-Sequence Pre-training for NLP,” ACL, 2020.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Jingqing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Zhang et al., “PEGASUS: Pre-training with Extracted Gap-sentences for Abstractive Summarization,” ICML, 2020.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Ashish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Vaswani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et al., “Attention Is All You Need,”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NeurIPS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2017.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Jacob Devlin et al., “BERT: Pre-training of Deep Bidirectional Transformers for Language Understanding,” NAACL, 2019.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585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1497</Words>
  <Application>Microsoft Office PowerPoint</Application>
  <PresentationFormat>Widescreen</PresentationFormat>
  <Paragraphs>216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Cambria</vt:lpstr>
      <vt:lpstr>Office Theme</vt:lpstr>
      <vt:lpstr>Intelligent Summarization of Website Content Using Transformer-Based Models.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Summarization of Website Content Using Transformer-Based Models.</dc:title>
  <dc:creator>GOD</dc:creator>
  <cp:lastModifiedBy>gopinathm735@gmail.com</cp:lastModifiedBy>
  <cp:revision>23</cp:revision>
  <dcterms:created xsi:type="dcterms:W3CDTF">2026-04-19T05:21:51Z</dcterms:created>
  <dcterms:modified xsi:type="dcterms:W3CDTF">2026-04-27T04:30:27Z</dcterms:modified>
</cp:coreProperties>
</file>